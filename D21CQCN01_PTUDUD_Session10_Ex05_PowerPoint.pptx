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400">
                <a:solidFill>
                  <a:srgbClr val="FFFFFF"/>
                </a:solidFill>
                <a:latin typeface="Montserrat"/>
              </a:defRPr>
            </a:pPr>
            <a:r>
              <a:t>CHIẾN LƯỢC PHÒNG THỦ 3 TẦNG CHUYÊN SÂU (DEFENSE-IN-DEPTH)</a:t>
            </a:r>
          </a:p>
          <a:p>
            <a:pPr>
              <a:defRPr sz="1200">
                <a:solidFill>
                  <a:srgbClr val="008DDA"/>
                </a:solidFill>
                <a:latin typeface="Inter"/>
              </a:defRPr>
            </a:pPr>
            <a:r>
              <a:t>Kiến trúc bảo mật NetGuard SOC | Triển khai theo chuẩn Zero Trust ngăn chặn 99.9% nguy cơ xâm nhập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13716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008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64592"/>
          <a:lstStyle/>
          <a:p>
            <a:pPr algn="ctr">
              <a:defRPr b="1" sz="1350">
                <a:solidFill>
                  <a:srgbClr val="008DDA"/>
                </a:solidFill>
                <a:latin typeface="Montserrat"/>
              </a:defRPr>
            </a:pPr>
            <a:r>
              <a:t>TẦNG 1: VÀNH ĐAI NGOẠI VI (PERIMETER SHIELD)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F1F5F9"/>
                </a:solidFill>
                <a:latin typeface="Inter"/>
              </a:defRPr>
            </a:pPr>
            <a:r>
              <a:t>Ngăn chặn từ xa mọi tấn công DDoS, quét cổng và lưu lượng độc hại trước khi chạm tới hệ thống.</a:t>
            </a:r>
          </a:p>
          <a:p>
            <a:pPr>
              <a:defRPr b="1" sz="1000">
                <a:solidFill>
                  <a:srgbClr val="94A3B8"/>
                </a:solidFill>
                <a:latin typeface="Inter"/>
              </a:defRPr>
            </a:pPr>
            <a:r>
              <a:t>▶ Công nghệ chủ đạo: Next-Gen Firewall (NGFW), Cloudflare WAF, Anti-DDoS, SSL Inspection.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200400"/>
            <a:ext cx="10728655" cy="1371600"/>
          </a:xfrm>
          <a:prstGeom prst="roundRect">
            <a:avLst/>
          </a:prstGeom>
          <a:solidFill>
            <a:srgbClr val="18212F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64592"/>
          <a:lstStyle/>
          <a:p>
            <a:pPr algn="ctr">
              <a:defRPr b="1" sz="1350">
                <a:solidFill>
                  <a:srgbClr val="3B82F6"/>
                </a:solidFill>
                <a:latin typeface="Montserrat"/>
              </a:defRPr>
            </a:pPr>
            <a:r>
              <a:t>TẦNG 2: MẠNG NỘI BỘ &amp; PHÂN ĐOẠN (INTERNAL ZERO-TRUST)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F1F5F9"/>
                </a:solidFill>
                <a:latin typeface="Inter"/>
              </a:defRPr>
            </a:pPr>
            <a:r>
              <a:t>Phân vùng vi mô cô lập mạng, chặn đứng hành vi di chuyển ngang (Lateral Movement) của mã độc.</a:t>
            </a:r>
          </a:p>
          <a:p>
            <a:pPr>
              <a:defRPr b="1" sz="1000">
                <a:solidFill>
                  <a:srgbClr val="94A3B8"/>
                </a:solidFill>
                <a:latin typeface="Inter"/>
              </a:defRPr>
            </a:pPr>
            <a:r>
              <a:t>▶ Công nghệ chủ đạo: Network Segmentation, Micro-VLANs, IPS/IDS nội bộ, Zero Trust Access.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754880"/>
            <a:ext cx="10728655" cy="1371600"/>
          </a:xfrm>
          <a:prstGeom prst="roundRect">
            <a:avLst/>
          </a:prstGeom>
          <a:solidFill>
            <a:srgbClr val="111827"/>
          </a:solidFill>
          <a:ln w="254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64592"/>
          <a:lstStyle/>
          <a:p>
            <a:pPr algn="ctr">
              <a:defRPr b="1" sz="1350">
                <a:solidFill>
                  <a:srgbClr val="EA580C"/>
                </a:solidFill>
                <a:latin typeface="Montserrat"/>
              </a:defRPr>
            </a:pPr>
            <a:r>
              <a:t>TẦNG 3: ĐẦU CUỐI &amp; DỮ LIỆU CỐT LÕI (CORE &amp; ENDPOINT VAULT)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100">
                <a:solidFill>
                  <a:srgbClr val="F1F5F9"/>
                </a:solidFill>
                <a:latin typeface="Inter"/>
              </a:defRPr>
            </a:pPr>
            <a:r>
              <a:t>Tuyến phòng thủ kiên cố bảo vệ trực tiếp máy chủ máy trạm và toàn bộ cơ sở dữ liệu khách hàng.</a:t>
            </a:r>
          </a:p>
          <a:p>
            <a:pPr>
              <a:defRPr b="1" sz="1000">
                <a:solidFill>
                  <a:srgbClr val="94A3B8"/>
                </a:solidFill>
                <a:latin typeface="Inter"/>
              </a:defRPr>
            </a:pPr>
            <a:r>
              <a:t>▶ Công nghệ chủ đạo: EDR AI Agent, Sandbox cách ly, Mã hóa AES-256 Data-at-Rest, Immutable Backup.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1792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64748B"/>
                </a:solidFill>
                <a:latin typeface="Inter"/>
              </a:defRPr>
            </a:pPr>
            <a:r>
              <a:t>Tiêu chuẩn đồ họa: Sử dụng chuẩn Typography hiện đại (Montserrat &amp; Inter) - Đảm bảo độ sắc nét tuyệt đối trên máy chiếu Projector.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